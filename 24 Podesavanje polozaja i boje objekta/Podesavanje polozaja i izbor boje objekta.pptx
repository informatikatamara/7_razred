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5" r:id="rId6"/>
    <p:sldId id="262" r:id="rId7"/>
    <p:sldId id="266" r:id="rId8"/>
    <p:sldId id="267" r:id="rId9"/>
    <p:sldId id="268" r:id="rId10"/>
    <p:sldId id="269" r:id="rId11"/>
    <p:sldId id="270" r:id="rId12"/>
    <p:sldId id="272" r:id="rId13"/>
    <p:sldId id="271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98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40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72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88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95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9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59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8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0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7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0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6000"/>
            <a:lum/>
          </a:blip>
          <a:srcRect/>
          <a:stretch>
            <a:fillRect l="-9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E2CBD-CEAF-4C8B-8BCE-1F820D727D0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90F86-0AF2-4CD0-A1CD-FD6CCB695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0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2000"/>
            <a:lum/>
          </a:blip>
          <a:srcRect/>
          <a:stretch>
            <a:fillRect l="-9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265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Korišćenje biblioteke pygame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sr-Latn-RS" dirty="0"/>
              <a:t>Da bi naredbe za crtanje i animaciju bile dostupne, na početku svakog programa treba otkucati sledeći kod:</a:t>
            </a:r>
          </a:p>
          <a:p>
            <a:pPr marL="457200" lvl="1" indent="0">
              <a:buNone/>
            </a:pPr>
            <a:r>
              <a:rPr lang="en-US" dirty="0"/>
              <a:t>import </a:t>
            </a:r>
            <a:r>
              <a:rPr lang="en-US" dirty="0" err="1"/>
              <a:t>pygame</a:t>
            </a:r>
            <a:endParaRPr lang="en-US" dirty="0"/>
          </a:p>
          <a:p>
            <a:pPr marL="457200" lvl="1" indent="0">
              <a:buNone/>
            </a:pPr>
            <a:r>
              <a:rPr lang="en-US" dirty="0" err="1"/>
              <a:t>pygame.init</a:t>
            </a:r>
            <a:r>
              <a:rPr lang="en-US" dirty="0"/>
              <a:t>()</a:t>
            </a:r>
            <a:endParaRPr lang="sr-Latn-RS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sr-Latn-RS" sz="3200" dirty="0"/>
              <a:t>Da ne bi svaki put morali da kucate pun naziv biblioteke naredba import može da izgleda i ovako:</a:t>
            </a:r>
          </a:p>
          <a:p>
            <a:pPr marL="457200" lvl="1" indent="0">
              <a:buNone/>
            </a:pPr>
            <a:r>
              <a:rPr lang="sr-Latn-RS" dirty="0"/>
              <a:t>import pygame as pg</a:t>
            </a:r>
          </a:p>
          <a:p>
            <a:pPr marL="457200" lvl="1" indent="0">
              <a:buNone/>
            </a:pPr>
            <a:r>
              <a:rPr lang="sr-Latn-RS" dirty="0"/>
              <a:t>pg.init()</a:t>
            </a:r>
          </a:p>
        </p:txBody>
      </p:sp>
    </p:spTree>
    <p:extLst>
      <p:ext uri="{BB962C8B-B14F-4D97-AF65-F5344CB8AC3E}">
        <p14:creationId xmlns:p14="http://schemas.microsoft.com/office/powerpoint/2010/main" val="51374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Položaj objekta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/>
              <a:t>Položaj svake tačke u ravni se određuje na osnovu njenih koordinata. To isto važi i u Pygame prozoru za crtanje.</a:t>
            </a:r>
          </a:p>
          <a:p>
            <a:r>
              <a:rPr lang="sr-Latn-RS" dirty="0"/>
              <a:t>Razlika je u tome što koordinate tačaka u Pygame-u ne mogu biti negativne i što se koordinatni početak nalazi u gornjem levom uglu.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5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838200"/>
            <a:ext cx="479760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980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1C7E3-7833-BAF6-FF7B-51981500D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sr-Cyrl-RS" dirty="0"/>
              <a:t>Сваки цртеж у векторској графици се састоји од геометријских облика који су описани параметрима.</a:t>
            </a:r>
          </a:p>
          <a:p>
            <a:r>
              <a:rPr lang="sr-Cyrl-RS" sz="4000" b="1" dirty="0"/>
              <a:t>Почетни део кода, који се односи на учитавање </a:t>
            </a:r>
            <a:r>
              <a:rPr lang="sr-Latn-RS" sz="4000" b="1" dirty="0"/>
              <a:t>Pygame </a:t>
            </a:r>
            <a:r>
              <a:rPr lang="sr-Cyrl-RS" sz="4000" b="1" dirty="0"/>
              <a:t>библиотеке, и последњи, који се односи на затварање програма, се не мењају. </a:t>
            </a:r>
            <a:endParaRPr lang="en-US" sz="40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16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Crtanje trougla liniju po liniju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73480"/>
            <a:ext cx="44958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Kod</a:t>
            </a:r>
            <a:r>
              <a:rPr lang="en-US" sz="1800" b="1" dirty="0"/>
              <a:t> </a:t>
            </a:r>
            <a:r>
              <a:rPr lang="en-US" sz="1800" b="1" dirty="0" err="1"/>
              <a:t>sa</a:t>
            </a:r>
            <a:r>
              <a:rPr lang="en-US" sz="1800" b="1" dirty="0"/>
              <a:t> </a:t>
            </a:r>
            <a:r>
              <a:rPr lang="en-US" sz="1800" b="1" dirty="0" err="1"/>
              <a:t>koriscenjem</a:t>
            </a:r>
            <a:r>
              <a:rPr lang="en-US" sz="1800" b="1" dirty="0"/>
              <a:t> </a:t>
            </a:r>
            <a:r>
              <a:rPr lang="en-US" sz="1800" b="1" dirty="0" err="1"/>
              <a:t>petlje</a:t>
            </a:r>
            <a:r>
              <a:rPr lang="en-US" sz="1800" b="1" dirty="0"/>
              <a:t> </a:t>
            </a:r>
            <a:r>
              <a:rPr lang="en-US" sz="1800" b="1" dirty="0" err="1"/>
              <a:t>i</a:t>
            </a:r>
            <a:r>
              <a:rPr lang="en-US" sz="1800" b="1" dirty="0"/>
              <a:t> </a:t>
            </a:r>
            <a:r>
              <a:rPr lang="en-US" sz="1800" b="1" dirty="0" err="1"/>
              <a:t>pokretanjem</a:t>
            </a:r>
            <a:r>
              <a:rPr lang="en-US" sz="1800" b="1" dirty="0"/>
              <a:t> </a:t>
            </a:r>
            <a:r>
              <a:rPr lang="en-US" sz="1800" b="1" dirty="0" err="1"/>
              <a:t>dogadjaja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#Uvoz pygame biblioteke</a:t>
            </a:r>
          </a:p>
          <a:p>
            <a:pPr marL="0" indent="0">
              <a:buNone/>
            </a:pPr>
            <a:r>
              <a:rPr lang="en-US" sz="1200" dirty="0"/>
              <a:t>import </a:t>
            </a:r>
            <a:r>
              <a:rPr lang="en-US" sz="1200" dirty="0" err="1"/>
              <a:t>pygame</a:t>
            </a:r>
            <a:r>
              <a:rPr lang="en-US" sz="1200" dirty="0"/>
              <a:t> as </a:t>
            </a:r>
            <a:r>
              <a:rPr lang="en-US" sz="1200" dirty="0" err="1"/>
              <a:t>pg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pg.init</a:t>
            </a:r>
            <a:r>
              <a:rPr lang="en-US" sz="1200" dirty="0"/>
              <a:t>()</a:t>
            </a:r>
            <a:endParaRPr lang="sr-Latn-RS" sz="1200" dirty="0"/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#podešavanje osnovnih parametara prozora za crtanje – </a:t>
            </a:r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#veličina prozora:</a:t>
            </a:r>
          </a:p>
          <a:p>
            <a:pPr marL="0" indent="0">
              <a:buNone/>
            </a:pPr>
            <a:r>
              <a:rPr lang="en-US" sz="1200" dirty="0" err="1"/>
              <a:t>prozor</a:t>
            </a:r>
            <a:r>
              <a:rPr lang="en-US" sz="1200" dirty="0"/>
              <a:t> = </a:t>
            </a:r>
            <a:r>
              <a:rPr lang="en-US" sz="1200" dirty="0" err="1"/>
              <a:t>pg.display.set_mode</a:t>
            </a:r>
            <a:r>
              <a:rPr lang="en-US" sz="1200" dirty="0"/>
              <a:t>((300,300))</a:t>
            </a:r>
            <a:r>
              <a:rPr lang="sr-Latn-RS" sz="1200" dirty="0"/>
              <a:t> </a:t>
            </a:r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#naslov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 err="1"/>
              <a:t>pg.display.set_caption</a:t>
            </a:r>
            <a:r>
              <a:rPr lang="en-US" sz="1200" dirty="0"/>
              <a:t>("</a:t>
            </a:r>
            <a:r>
              <a:rPr lang="en-US" sz="1200" dirty="0" err="1"/>
              <a:t>Crtanje</a:t>
            </a:r>
            <a:r>
              <a:rPr lang="en-US" sz="1200" dirty="0"/>
              <a:t> </a:t>
            </a:r>
            <a:r>
              <a:rPr lang="en-US" sz="1200" dirty="0" err="1"/>
              <a:t>trougla</a:t>
            </a:r>
            <a:r>
              <a:rPr lang="en-US" sz="1200" dirty="0"/>
              <a:t>")</a:t>
            </a:r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#boja</a:t>
            </a:r>
          </a:p>
          <a:p>
            <a:pPr marL="0" indent="0">
              <a:buNone/>
            </a:pPr>
            <a:r>
              <a:rPr lang="en-US" sz="1200" dirty="0" err="1"/>
              <a:t>prozor.fill</a:t>
            </a:r>
            <a:r>
              <a:rPr lang="en-US" sz="1200" dirty="0"/>
              <a:t>(</a:t>
            </a:r>
            <a:r>
              <a:rPr lang="en-US" sz="1200" dirty="0" err="1"/>
              <a:t>pg.Color</a:t>
            </a:r>
            <a:r>
              <a:rPr lang="en-US" sz="1200" dirty="0"/>
              <a:t>("White"))</a:t>
            </a:r>
            <a:endParaRPr lang="sr-Latn-RS" sz="1200" dirty="0"/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#crtanje osnovice trougla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 err="1"/>
              <a:t>pg.draw.line</a:t>
            </a:r>
            <a:r>
              <a:rPr lang="en-US" sz="1200" dirty="0"/>
              <a:t>(</a:t>
            </a:r>
            <a:r>
              <a:rPr lang="en-US" sz="1200" dirty="0" err="1"/>
              <a:t>prozor,pg.Color</a:t>
            </a:r>
            <a:r>
              <a:rPr lang="en-US" sz="1200" dirty="0"/>
              <a:t>("Orange"),(50,250),(250,250),4)</a:t>
            </a:r>
            <a:endParaRPr lang="sr-Latn-RS" sz="1200" dirty="0"/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#crtanje bočne desne stranice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 err="1"/>
              <a:t>pg.draw.line</a:t>
            </a:r>
            <a:r>
              <a:rPr lang="en-US" sz="1200" dirty="0"/>
              <a:t>(</a:t>
            </a:r>
            <a:r>
              <a:rPr lang="en-US" sz="1200" dirty="0" err="1"/>
              <a:t>prozor,pg.Color</a:t>
            </a:r>
            <a:r>
              <a:rPr lang="en-US" sz="1200" dirty="0"/>
              <a:t>("Blue"),(250,250),(150,50),4)</a:t>
            </a:r>
            <a:endParaRPr lang="sr-Latn-RS" sz="1200" dirty="0"/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#crtanje bočne leve stranice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 err="1"/>
              <a:t>pg.draw.line</a:t>
            </a:r>
            <a:r>
              <a:rPr lang="en-US" sz="1200" dirty="0"/>
              <a:t>(</a:t>
            </a:r>
            <a:r>
              <a:rPr lang="en-US" sz="1200" dirty="0" err="1"/>
              <a:t>prozor,pg.Color</a:t>
            </a:r>
            <a:r>
              <a:rPr lang="en-US" sz="1200" dirty="0"/>
              <a:t>("Magenta"),(150,50),(50,250),4)</a:t>
            </a:r>
            <a:endParaRPr lang="sr-Latn-RS" sz="1200" dirty="0"/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 „Osvežavanje izgleda prozora za crtanje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 err="1"/>
              <a:t>pg.display.update</a:t>
            </a:r>
            <a:r>
              <a:rPr lang="en-US" sz="1200" dirty="0"/>
              <a:t>()</a:t>
            </a:r>
            <a:endParaRPr lang="sr-Latn-RS" sz="1200" dirty="0"/>
          </a:p>
          <a:p>
            <a:pPr marL="0" indent="0">
              <a:buNone/>
            </a:pPr>
            <a:r>
              <a:rPr lang="sr-Latn-RS" sz="1200" dirty="0">
                <a:solidFill>
                  <a:srgbClr val="FF0000"/>
                </a:solidFill>
              </a:rPr>
              <a:t>#Pokretanje događaja: Prikazuje crtež sve dok korisnik ne klikne na X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200" dirty="0"/>
              <a:t>while </a:t>
            </a:r>
            <a:r>
              <a:rPr lang="en-US" sz="1200" dirty="0" err="1"/>
              <a:t>pg.event.wait</a:t>
            </a:r>
            <a:r>
              <a:rPr lang="en-US" sz="1200" dirty="0"/>
              <a:t>().type != </a:t>
            </a:r>
            <a:r>
              <a:rPr lang="en-US" sz="1200" dirty="0" err="1"/>
              <a:t>pg.QUIT</a:t>
            </a:r>
            <a:r>
              <a:rPr lang="en-US" sz="1200" dirty="0"/>
              <a:t>:</a:t>
            </a:r>
            <a:endParaRPr lang="sr-Latn-RS" sz="1200" dirty="0"/>
          </a:p>
          <a:p>
            <a:pPr marL="0" indent="0">
              <a:buNone/>
            </a:pPr>
            <a:r>
              <a:rPr lang="en-US" sz="1200" dirty="0"/>
              <a:t>	pass</a:t>
            </a:r>
          </a:p>
          <a:p>
            <a:pPr marL="0" indent="0">
              <a:buNone/>
            </a:pPr>
            <a:r>
              <a:rPr lang="en-US" sz="1200" dirty="0" err="1"/>
              <a:t>pg.quit</a:t>
            </a:r>
            <a:r>
              <a:rPr lang="en-US" sz="1200" dirty="0"/>
              <a:t>()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DA0C3B-D411-C88B-8760-06EE97AC754A}"/>
              </a:ext>
            </a:extLst>
          </p:cNvPr>
          <p:cNvSpPr txBox="1">
            <a:spLocks/>
          </p:cNvSpPr>
          <p:nvPr/>
        </p:nvSpPr>
        <p:spPr>
          <a:xfrm>
            <a:off x="4572000" y="1143000"/>
            <a:ext cx="47244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B1C4AC-2A65-D8AA-6F38-FD503192C8C0}"/>
              </a:ext>
            </a:extLst>
          </p:cNvPr>
          <p:cNvSpPr txBox="1">
            <a:spLocks/>
          </p:cNvSpPr>
          <p:nvPr/>
        </p:nvSpPr>
        <p:spPr>
          <a:xfrm>
            <a:off x="4282440" y="1173480"/>
            <a:ext cx="4495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 err="1"/>
              <a:t>Jednostavniji</a:t>
            </a:r>
            <a:r>
              <a:rPr lang="en-US" sz="1800" b="1" dirty="0"/>
              <a:t> </a:t>
            </a:r>
            <a:r>
              <a:rPr lang="en-US" sz="1800" b="1" dirty="0" err="1"/>
              <a:t>kod</a:t>
            </a:r>
            <a:r>
              <a:rPr lang="en-US" sz="1800" b="1" dirty="0"/>
              <a:t>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#Uvoz pygame biblioteke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/>
              <a:t>import </a:t>
            </a:r>
            <a:r>
              <a:rPr lang="en-US" sz="1200" dirty="0" err="1"/>
              <a:t>pygame</a:t>
            </a:r>
            <a:r>
              <a:rPr lang="en-US" sz="1200" dirty="0"/>
              <a:t> as </a:t>
            </a:r>
            <a:r>
              <a:rPr lang="en-US" sz="1200" dirty="0" err="1"/>
              <a:t>pg</a:t>
            </a: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pg.init</a:t>
            </a:r>
            <a:r>
              <a:rPr lang="en-US" sz="1200" dirty="0"/>
              <a:t>()</a:t>
            </a:r>
            <a:endParaRPr lang="sr-Latn-R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#podešavanje osnovnih parametara prozora za crtanje –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#veličina prozora: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prozor</a:t>
            </a:r>
            <a:r>
              <a:rPr lang="en-US" sz="1200" dirty="0"/>
              <a:t> = </a:t>
            </a:r>
            <a:r>
              <a:rPr lang="en-US" sz="1200" dirty="0" err="1"/>
              <a:t>pg.display.set_mode</a:t>
            </a:r>
            <a:r>
              <a:rPr lang="en-US" sz="1200" dirty="0"/>
              <a:t>((300,300))</a:t>
            </a:r>
            <a:r>
              <a:rPr lang="sr-Latn-RS" sz="12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#naslov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pg.display.set_caption</a:t>
            </a:r>
            <a:r>
              <a:rPr lang="en-US" sz="1200" dirty="0"/>
              <a:t>("</a:t>
            </a:r>
            <a:r>
              <a:rPr lang="en-US" sz="1200" dirty="0" err="1"/>
              <a:t>Crtanje</a:t>
            </a:r>
            <a:r>
              <a:rPr lang="en-US" sz="1200" dirty="0"/>
              <a:t> </a:t>
            </a:r>
            <a:r>
              <a:rPr lang="en-US" sz="1200" dirty="0" err="1"/>
              <a:t>trougla</a:t>
            </a:r>
            <a:r>
              <a:rPr lang="en-US" sz="1200" dirty="0"/>
              <a:t>")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#boja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prozor.fill</a:t>
            </a:r>
            <a:r>
              <a:rPr lang="en-US" sz="1200" dirty="0"/>
              <a:t>("white")</a:t>
            </a:r>
            <a:endParaRPr lang="sr-Latn-R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#crtanje osnovice trougla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pg.draw.line</a:t>
            </a:r>
            <a:r>
              <a:rPr lang="en-US" sz="1200" dirty="0"/>
              <a:t>(</a:t>
            </a:r>
            <a:r>
              <a:rPr lang="en-US" sz="1200" dirty="0" err="1"/>
              <a:t>prozor,pg.Color</a:t>
            </a:r>
            <a:r>
              <a:rPr lang="en-US" sz="1200" dirty="0"/>
              <a:t>(“orange"),(50,250),(250,250),4)</a:t>
            </a:r>
            <a:endParaRPr lang="sr-Latn-R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#crtanje bočne desne stranice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pg.draw.line</a:t>
            </a:r>
            <a:r>
              <a:rPr lang="en-US" sz="1200" dirty="0"/>
              <a:t>(</a:t>
            </a:r>
            <a:r>
              <a:rPr lang="en-US" sz="1200" dirty="0" err="1"/>
              <a:t>prozor,pg.Color</a:t>
            </a:r>
            <a:r>
              <a:rPr lang="en-US" sz="1200" dirty="0"/>
              <a:t>(“blue"),(250,250),(150,50),4)</a:t>
            </a:r>
            <a:endParaRPr lang="sr-Latn-R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#crtanje bočne leve stranice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pg.draw.line</a:t>
            </a:r>
            <a:r>
              <a:rPr lang="en-US" sz="1200" dirty="0"/>
              <a:t>(</a:t>
            </a:r>
            <a:r>
              <a:rPr lang="en-US" sz="1200" dirty="0" err="1"/>
              <a:t>prozor,pg.Color</a:t>
            </a:r>
            <a:r>
              <a:rPr lang="en-US" sz="1200" dirty="0"/>
              <a:t>(“magenta"),(150,50),(50,250),4)</a:t>
            </a:r>
            <a:endParaRPr lang="sr-Latn-R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 „Osvežavanje izgleda prozora za crtanje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pg.display.update</a:t>
            </a:r>
            <a:r>
              <a:rPr lang="en-US" sz="1200" dirty="0"/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sr-Latn-RS" sz="1200" dirty="0">
                <a:solidFill>
                  <a:srgbClr val="FF0000"/>
                </a:solidFill>
              </a:rPr>
              <a:t>#</a:t>
            </a:r>
            <a:r>
              <a:rPr lang="en-US" sz="1200" dirty="0" err="1">
                <a:solidFill>
                  <a:srgbClr val="FF0000"/>
                </a:solidFill>
              </a:rPr>
              <a:t>Prikaz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crteza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na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ekranu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odredjeni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broj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  <a:r>
              <a:rPr lang="en-US" sz="1200" dirty="0" err="1">
                <a:solidFill>
                  <a:srgbClr val="FF0000"/>
                </a:solidFill>
              </a:rPr>
              <a:t>milisekundi</a:t>
            </a: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pg.time.wait</a:t>
            </a:r>
            <a:r>
              <a:rPr lang="en-US" sz="1200" dirty="0"/>
              <a:t>(30000)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2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 err="1"/>
              <a:t>pg.quit</a:t>
            </a:r>
            <a:r>
              <a:rPr lang="en-US" sz="1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429641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BAB0-44AF-35BC-0CB2-74BCDF13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Цртање дужи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3DD6D-C4A1-B316-579B-7640160A6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sr-Cyrl-RS" dirty="0"/>
              <a:t>Функција за цртање дужи: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sr-Cyrl-RS" dirty="0"/>
              <a:t>Функција за цртање дужи има следеће параметре, који се унутар заграда раздвајају зарезом.</a:t>
            </a:r>
          </a:p>
          <a:p>
            <a:pPr lvl="1"/>
            <a:r>
              <a:rPr lang="sr-Cyrl-RS" dirty="0"/>
              <a:t>Прозор за цртање</a:t>
            </a:r>
          </a:p>
          <a:p>
            <a:pPr lvl="1"/>
            <a:r>
              <a:rPr lang="sr-Cyrl-RS" dirty="0"/>
              <a:t>Боја</a:t>
            </a:r>
          </a:p>
          <a:p>
            <a:pPr lvl="1"/>
            <a:r>
              <a:rPr lang="sr-Cyrl-RS" dirty="0"/>
              <a:t>Положај почетне и крајње тачке дужи</a:t>
            </a:r>
          </a:p>
          <a:p>
            <a:pPr lvl="1"/>
            <a:r>
              <a:rPr lang="sr-Cyrl-RS" dirty="0"/>
              <a:t>Дебљина линије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E95193-C062-8FE4-D881-31DFD89C1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7400"/>
            <a:ext cx="7673844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39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F4F3A-668A-1D05-8DE4-A9DCD27A9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Прозор за цртање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F496-BEB6-197A-7902-564868032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lvl="0"/>
            <a:r>
              <a:rPr lang="sr-Cyrl-RS" dirty="0"/>
              <a:t>Параметар </a:t>
            </a:r>
            <a:r>
              <a:rPr lang="sr-Latn-RS" dirty="0"/>
              <a:t>prozor </a:t>
            </a:r>
            <a:r>
              <a:rPr lang="sr-Cyrl-RS" dirty="0"/>
              <a:t>поставља објекат који се црта у прозор који је претходно дефинисан следећим кодом:</a:t>
            </a:r>
            <a:endParaRPr lang="en-US" dirty="0"/>
          </a:p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endParaRPr lang="sr-Cyrl-R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D31602-4F8F-073F-9E93-CCD53EA810AC}"/>
              </a:ext>
            </a:extLst>
          </p:cNvPr>
          <p:cNvSpPr/>
          <p:nvPr/>
        </p:nvSpPr>
        <p:spPr>
          <a:xfrm>
            <a:off x="304800" y="3425190"/>
            <a:ext cx="4343400" cy="243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dirty="0">
                <a:solidFill>
                  <a:srgbClr val="FF0000"/>
                </a:solidFill>
              </a:rPr>
              <a:t>#podešavanje osnovnih parametara prozora </a:t>
            </a:r>
            <a:r>
              <a:rPr lang="sr-Cyrl-RS" dirty="0">
                <a:solidFill>
                  <a:srgbClr val="FF0000"/>
                </a:solidFill>
              </a:rPr>
              <a:t>#</a:t>
            </a:r>
            <a:r>
              <a:rPr lang="sr-Latn-RS" dirty="0">
                <a:solidFill>
                  <a:srgbClr val="FF0000"/>
                </a:solidFill>
              </a:rPr>
              <a:t>za crtanje – </a:t>
            </a:r>
          </a:p>
          <a:p>
            <a:r>
              <a:rPr lang="sr-Latn-RS" dirty="0">
                <a:solidFill>
                  <a:srgbClr val="FF0000"/>
                </a:solidFill>
              </a:rPr>
              <a:t>#veličina prozora:</a:t>
            </a:r>
          </a:p>
          <a:p>
            <a:r>
              <a:rPr lang="en-US" dirty="0" err="1"/>
              <a:t>prozor</a:t>
            </a:r>
            <a:r>
              <a:rPr lang="en-US" dirty="0"/>
              <a:t> = </a:t>
            </a:r>
            <a:r>
              <a:rPr lang="en-US" dirty="0" err="1"/>
              <a:t>pg.display.set_mode</a:t>
            </a:r>
            <a:r>
              <a:rPr lang="en-US" dirty="0"/>
              <a:t>((300,300))</a:t>
            </a:r>
            <a:r>
              <a:rPr lang="sr-Latn-RS" dirty="0"/>
              <a:t> </a:t>
            </a:r>
          </a:p>
          <a:p>
            <a:r>
              <a:rPr lang="sr-Latn-RS" dirty="0">
                <a:solidFill>
                  <a:srgbClr val="FF0000"/>
                </a:solidFill>
              </a:rPr>
              <a:t>#naslov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pg.display.set_caption</a:t>
            </a:r>
            <a:r>
              <a:rPr lang="en-US" dirty="0"/>
              <a:t>("</a:t>
            </a:r>
            <a:r>
              <a:rPr lang="en-US" dirty="0" err="1"/>
              <a:t>Crtanje</a:t>
            </a:r>
            <a:r>
              <a:rPr lang="en-US" dirty="0"/>
              <a:t> </a:t>
            </a:r>
            <a:r>
              <a:rPr lang="en-US" dirty="0" err="1"/>
              <a:t>trougla</a:t>
            </a:r>
            <a:r>
              <a:rPr lang="en-US" dirty="0"/>
              <a:t>")</a:t>
            </a:r>
          </a:p>
          <a:p>
            <a:r>
              <a:rPr lang="sr-Latn-RS" dirty="0">
                <a:solidFill>
                  <a:srgbClr val="FF0000"/>
                </a:solidFill>
              </a:rPr>
              <a:t>#boja</a:t>
            </a:r>
          </a:p>
          <a:p>
            <a:r>
              <a:rPr lang="en-US" dirty="0" err="1"/>
              <a:t>prozor.fill</a:t>
            </a:r>
            <a:r>
              <a:rPr lang="en-US" dirty="0"/>
              <a:t>(</a:t>
            </a:r>
            <a:r>
              <a:rPr lang="en-US" dirty="0" err="1"/>
              <a:t>pg.Color</a:t>
            </a:r>
            <a:r>
              <a:rPr lang="en-US" dirty="0"/>
              <a:t>("White"))</a:t>
            </a:r>
            <a:endParaRPr lang="sr-Latn-R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9C947F-240A-EC7D-40CA-92284CB2A854}"/>
              </a:ext>
            </a:extLst>
          </p:cNvPr>
          <p:cNvSpPr/>
          <p:nvPr/>
        </p:nvSpPr>
        <p:spPr>
          <a:xfrm>
            <a:off x="4800600" y="3425190"/>
            <a:ext cx="4343400" cy="2438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sr-Latn-RS" dirty="0">
                <a:solidFill>
                  <a:srgbClr val="FF0000"/>
                </a:solidFill>
              </a:rPr>
              <a:t>#podešavanje osnovnih parametara prozora </a:t>
            </a:r>
            <a:r>
              <a:rPr lang="sr-Cyrl-RS" dirty="0">
                <a:solidFill>
                  <a:srgbClr val="FF0000"/>
                </a:solidFill>
              </a:rPr>
              <a:t>#</a:t>
            </a:r>
            <a:r>
              <a:rPr lang="sr-Latn-RS" dirty="0">
                <a:solidFill>
                  <a:srgbClr val="FF0000"/>
                </a:solidFill>
              </a:rPr>
              <a:t>za crtanje – </a:t>
            </a:r>
          </a:p>
          <a:p>
            <a:r>
              <a:rPr lang="sr-Latn-RS" dirty="0">
                <a:solidFill>
                  <a:srgbClr val="FF0000"/>
                </a:solidFill>
              </a:rPr>
              <a:t>#veličina prozora:</a:t>
            </a:r>
          </a:p>
          <a:p>
            <a:r>
              <a:rPr lang="en-US" dirty="0" err="1"/>
              <a:t>prozor</a:t>
            </a:r>
            <a:r>
              <a:rPr lang="en-US" dirty="0"/>
              <a:t> = </a:t>
            </a:r>
            <a:r>
              <a:rPr lang="en-US" dirty="0" err="1"/>
              <a:t>pg.display.set_mode</a:t>
            </a:r>
            <a:r>
              <a:rPr lang="en-US" dirty="0"/>
              <a:t>((300,300))</a:t>
            </a:r>
            <a:r>
              <a:rPr lang="sr-Latn-RS" dirty="0"/>
              <a:t> </a:t>
            </a:r>
          </a:p>
          <a:p>
            <a:r>
              <a:rPr lang="sr-Latn-RS" dirty="0">
                <a:solidFill>
                  <a:srgbClr val="FF0000"/>
                </a:solidFill>
              </a:rPr>
              <a:t>#boja</a:t>
            </a:r>
          </a:p>
          <a:p>
            <a:r>
              <a:rPr lang="en-US" dirty="0" err="1"/>
              <a:t>prozor.fill</a:t>
            </a:r>
            <a:r>
              <a:rPr lang="en-US" dirty="0"/>
              <a:t>( “white")</a:t>
            </a:r>
            <a:endParaRPr lang="sr-Latn-R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073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464F-50F3-80A2-391C-51AD4DDDB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Параметар боја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8854D-2A00-C8D9-EBB3-B535C9A4A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r-Cyrl-RS" dirty="0"/>
              <a:t>Боја објекта се подешава помоћу аргумента </a:t>
            </a:r>
            <a:r>
              <a:rPr lang="sr-Latn-RS" b="1" dirty="0"/>
              <a:t>pygame.color()</a:t>
            </a:r>
            <a:r>
              <a:rPr lang="sr-Cyrl-RS" dirty="0"/>
              <a:t>, где се у загради уписује назив боје (под наводницима) или ознака боје из </a:t>
            </a:r>
            <a:r>
              <a:rPr lang="sr-Latn-RS" b="1" dirty="0"/>
              <a:t>RGB</a:t>
            </a:r>
            <a:r>
              <a:rPr lang="sr-Latn-RS" dirty="0"/>
              <a:t> </a:t>
            </a:r>
            <a:r>
              <a:rPr lang="sr-Cyrl-RS" dirty="0"/>
              <a:t>система.</a:t>
            </a:r>
            <a:endParaRPr lang="en-US" dirty="0"/>
          </a:p>
          <a:p>
            <a:r>
              <a:rPr lang="sr-Cyrl-RS" dirty="0"/>
              <a:t>Трочлани низ који дефинише боју из </a:t>
            </a:r>
            <a:r>
              <a:rPr lang="sr-Latn-RS" b="1" dirty="0"/>
              <a:t>RGB</a:t>
            </a:r>
            <a:r>
              <a:rPr lang="sr-Latn-RS" dirty="0"/>
              <a:t> </a:t>
            </a:r>
            <a:r>
              <a:rPr lang="sr-Cyrl-RS" dirty="0"/>
              <a:t>система може се дефинисати као </a:t>
            </a:r>
            <a:r>
              <a:rPr lang="sr-Cyrl-RS" dirty="0" err="1"/>
              <a:t>торка</a:t>
            </a:r>
            <a:r>
              <a:rPr lang="sr-Cyrl-RS" dirty="0"/>
              <a:t> и затим се у даљем програму позивати по називу </a:t>
            </a:r>
            <a:r>
              <a:rPr lang="sr-Cyrl-RS" dirty="0" err="1"/>
              <a:t>торке</a:t>
            </a:r>
            <a:r>
              <a:rPr lang="sr-Cyrl-RS" dirty="0"/>
              <a:t>: </a:t>
            </a:r>
            <a:r>
              <a:rPr lang="sr-Latn-RS" b="1" dirty="0"/>
              <a:t>ime_torke=</a:t>
            </a:r>
            <a:r>
              <a:rPr lang="en-US" b="1" dirty="0"/>
              <a:t>(</a:t>
            </a:r>
            <a:r>
              <a:rPr lang="sr-Latn-RS" b="1" dirty="0"/>
              <a:t>x,y,z</a:t>
            </a:r>
            <a:r>
              <a:rPr lang="en-US" b="1" dirty="0"/>
              <a:t>)</a:t>
            </a:r>
            <a:r>
              <a:rPr lang="sr-Latn-R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04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BD220-4143-6F91-74FB-75E3BBE7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Дефинисање боје помоћу </a:t>
            </a:r>
            <a:r>
              <a:rPr lang="sr-Cyrl-RS" dirty="0" err="1"/>
              <a:t>торке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31BDD-734C-5796-5ED0-3E5DC482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325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pygame</a:t>
            </a:r>
            <a:r>
              <a:rPr lang="en-US" dirty="0"/>
              <a:t> as </a:t>
            </a:r>
            <a:r>
              <a:rPr lang="en-US" dirty="0" err="1"/>
              <a:t>pg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pg.init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prozor</a:t>
            </a:r>
            <a:endParaRPr lang="en-US" dirty="0"/>
          </a:p>
          <a:p>
            <a:r>
              <a:rPr lang="en-US" dirty="0" err="1"/>
              <a:t>prozor</a:t>
            </a:r>
            <a:r>
              <a:rPr lang="en-US" dirty="0"/>
              <a:t> = </a:t>
            </a:r>
            <a:r>
              <a:rPr lang="en-US" dirty="0" err="1"/>
              <a:t>pg.display.set_mode</a:t>
            </a:r>
            <a:r>
              <a:rPr lang="en-US" dirty="0"/>
              <a:t>((300, 300))</a:t>
            </a:r>
          </a:p>
          <a:p>
            <a:r>
              <a:rPr lang="en-US" dirty="0" err="1"/>
              <a:t>pg.display.set_caption</a:t>
            </a:r>
            <a:r>
              <a:rPr lang="en-US" dirty="0"/>
              <a:t>("</a:t>
            </a:r>
            <a:r>
              <a:rPr lang="en-US" dirty="0" err="1"/>
              <a:t>Crtanje</a:t>
            </a:r>
            <a:r>
              <a:rPr lang="en-US" dirty="0"/>
              <a:t> </a:t>
            </a:r>
            <a:r>
              <a:rPr lang="en-US" dirty="0" err="1"/>
              <a:t>trougla</a:t>
            </a:r>
            <a:r>
              <a:rPr lang="en-US" dirty="0"/>
              <a:t>")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pozadina</a:t>
            </a:r>
            <a:endParaRPr lang="en-US" dirty="0"/>
          </a:p>
          <a:p>
            <a:r>
              <a:rPr lang="en-US" dirty="0" err="1"/>
              <a:t>prozor.fill</a:t>
            </a:r>
            <a:r>
              <a:rPr lang="en-US" dirty="0"/>
              <a:t>("white")</a:t>
            </a:r>
          </a:p>
          <a:p>
            <a:r>
              <a:rPr lang="en-US" dirty="0"/>
              <a:t>#definisanje </a:t>
            </a:r>
            <a:r>
              <a:rPr lang="en-US" dirty="0" err="1"/>
              <a:t>boja</a:t>
            </a:r>
            <a:r>
              <a:rPr lang="en-US" dirty="0"/>
              <a:t> </a:t>
            </a:r>
            <a:r>
              <a:rPr lang="en-US" dirty="0" err="1"/>
              <a:t>pomocu</a:t>
            </a:r>
            <a:r>
              <a:rPr lang="en-US" dirty="0"/>
              <a:t> RGB </a:t>
            </a:r>
            <a:r>
              <a:rPr lang="en-US" dirty="0" err="1"/>
              <a:t>vrednosti</a:t>
            </a:r>
            <a:endParaRPr lang="en-US" dirty="0"/>
          </a:p>
          <a:p>
            <a:r>
              <a:rPr lang="en-US" dirty="0" err="1"/>
              <a:t>crvena</a:t>
            </a:r>
            <a:r>
              <a:rPr lang="en-US" dirty="0"/>
              <a:t> = (0,255,0)</a:t>
            </a:r>
          </a:p>
          <a:p>
            <a:r>
              <a:rPr lang="en-US" dirty="0" err="1"/>
              <a:t>zelena</a:t>
            </a:r>
            <a:r>
              <a:rPr lang="en-US" dirty="0"/>
              <a:t> = (255,0,0)</a:t>
            </a:r>
          </a:p>
          <a:p>
            <a:r>
              <a:rPr lang="en-US" dirty="0" err="1"/>
              <a:t>plava</a:t>
            </a:r>
            <a:r>
              <a:rPr lang="en-US" dirty="0"/>
              <a:t> = (0,0,255)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crtanje</a:t>
            </a:r>
            <a:r>
              <a:rPr lang="en-US" dirty="0"/>
              <a:t> </a:t>
            </a:r>
            <a:r>
              <a:rPr lang="en-US" dirty="0" err="1"/>
              <a:t>trougla</a:t>
            </a:r>
            <a:endParaRPr lang="en-US" dirty="0"/>
          </a:p>
          <a:p>
            <a:r>
              <a:rPr lang="en-US" dirty="0" err="1"/>
              <a:t>pg.draw.line</a:t>
            </a:r>
            <a:r>
              <a:rPr lang="en-US" dirty="0"/>
              <a:t>(</a:t>
            </a:r>
            <a:r>
              <a:rPr lang="en-US" dirty="0" err="1"/>
              <a:t>prozor</a:t>
            </a:r>
            <a:r>
              <a:rPr lang="en-US" dirty="0"/>
              <a:t>, </a:t>
            </a:r>
            <a:r>
              <a:rPr lang="en-US" dirty="0" err="1"/>
              <a:t>crvena</a:t>
            </a:r>
            <a:r>
              <a:rPr lang="en-US" dirty="0"/>
              <a:t>, (50,250), (250,250), 4)</a:t>
            </a:r>
          </a:p>
          <a:p>
            <a:r>
              <a:rPr lang="en-US" dirty="0" err="1"/>
              <a:t>pg.draw.line</a:t>
            </a:r>
            <a:r>
              <a:rPr lang="en-US" dirty="0"/>
              <a:t>(</a:t>
            </a:r>
            <a:r>
              <a:rPr lang="en-US" dirty="0" err="1"/>
              <a:t>prozor</a:t>
            </a:r>
            <a:r>
              <a:rPr lang="en-US" dirty="0"/>
              <a:t>, </a:t>
            </a:r>
            <a:r>
              <a:rPr lang="en-US" dirty="0" err="1"/>
              <a:t>plava</a:t>
            </a:r>
            <a:r>
              <a:rPr lang="en-US" dirty="0"/>
              <a:t>, (250,250), (150,50), 4)</a:t>
            </a:r>
          </a:p>
          <a:p>
            <a:r>
              <a:rPr lang="en-US" dirty="0" err="1"/>
              <a:t>pg.draw.line</a:t>
            </a:r>
            <a:r>
              <a:rPr lang="en-US" dirty="0"/>
              <a:t>(</a:t>
            </a:r>
            <a:r>
              <a:rPr lang="en-US" dirty="0" err="1"/>
              <a:t>prozor</a:t>
            </a:r>
            <a:r>
              <a:rPr lang="en-US" dirty="0"/>
              <a:t>, </a:t>
            </a:r>
            <a:r>
              <a:rPr lang="en-US" dirty="0" err="1"/>
              <a:t>zelena</a:t>
            </a:r>
            <a:r>
              <a:rPr lang="en-US" dirty="0"/>
              <a:t>, (150,50), (50,250), 4)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crteža</a:t>
            </a:r>
            <a:endParaRPr lang="en-US" dirty="0"/>
          </a:p>
          <a:p>
            <a:r>
              <a:rPr lang="en-US" dirty="0" err="1"/>
              <a:t>pg.display.update</a:t>
            </a:r>
            <a:r>
              <a:rPr lang="en-US" dirty="0"/>
              <a:t>()</a:t>
            </a:r>
          </a:p>
          <a:p>
            <a:endParaRPr lang="en-US" dirty="0"/>
          </a:p>
          <a:p>
            <a:r>
              <a:rPr lang="en-US" dirty="0"/>
              <a:t># </a:t>
            </a:r>
            <a:r>
              <a:rPr lang="en-US" dirty="0" err="1"/>
              <a:t>prikaz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 30 </a:t>
            </a:r>
            <a:r>
              <a:rPr lang="en-US" dirty="0" err="1"/>
              <a:t>sekundi</a:t>
            </a:r>
            <a:endParaRPr lang="en-US" dirty="0"/>
          </a:p>
          <a:p>
            <a:r>
              <a:rPr lang="en-US" dirty="0" err="1"/>
              <a:t>pg.time.wait</a:t>
            </a:r>
            <a:r>
              <a:rPr lang="en-US" dirty="0"/>
              <a:t>(30000)</a:t>
            </a:r>
          </a:p>
          <a:p>
            <a:endParaRPr lang="en-US" dirty="0"/>
          </a:p>
          <a:p>
            <a:r>
              <a:rPr lang="en-US" dirty="0" err="1"/>
              <a:t>pg.quit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6431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EF09-2C1A-62E7-8CDA-2219C4293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Положај почетне и крајње тачке дужи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80B0D-5DD7-B7ED-04DA-E5BE4BD9C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r-Cyrl-RS" dirty="0" err="1"/>
              <a:t>оординатни</a:t>
            </a:r>
            <a:r>
              <a:rPr lang="sr-Cyrl-RS" dirty="0"/>
              <a:t> почетак је у горњем левом углу, координата </a:t>
            </a:r>
            <a:r>
              <a:rPr lang="sr-Latn-RS" dirty="0"/>
              <a:t>x </a:t>
            </a:r>
            <a:r>
              <a:rPr lang="sr-Cyrl-RS" dirty="0"/>
              <a:t>показује удаљеност тачке од леве ивице, а координата </a:t>
            </a:r>
            <a:r>
              <a:rPr lang="sr-Latn-RS" dirty="0"/>
              <a:t>y </a:t>
            </a:r>
            <a:r>
              <a:rPr lang="sr-Cyrl-RS" dirty="0"/>
              <a:t>од горње ивице прозора.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2DA353-F871-DE08-0CCB-5BA10771CE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3679123"/>
            <a:ext cx="5257800" cy="315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6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EA52A-B396-1F9D-1A97-F4FCB163A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12E91-679F-5628-F109-FB5642CDD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Положај дужи дефинисан је координатама почетне и крајње тачке дужи.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8BCCC-02BA-4D4B-27DE-38A109508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2808441"/>
            <a:ext cx="5081270" cy="401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83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94AE0-2DF1-A65C-802E-294F736FF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Cyrl-RS" dirty="0"/>
              <a:t>Дебљина линије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49E26-288C-74ED-66E2-70229E88B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Cyrl-RS" dirty="0"/>
              <a:t>Последњи параметар представља дебљину дужи.</a:t>
            </a:r>
            <a:endParaRPr lang="en-US" dirty="0"/>
          </a:p>
          <a:p>
            <a:r>
              <a:rPr lang="sr-Cyrl-RS" dirty="0"/>
              <a:t>Уколико се не наведе, по правилу се поставља да је дебљина линије 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843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Cyrl-RS" dirty="0"/>
              <a:t>Код куће пробати: </a:t>
            </a:r>
            <a:br>
              <a:rPr lang="sr-Cyrl-RS" dirty="0"/>
            </a:br>
            <a:r>
              <a:rPr lang="sr-Latn-RS" dirty="0"/>
              <a:t>Crtanje trougla sa komandom pygame.draw.lines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pygame</a:t>
            </a:r>
            <a:r>
              <a:rPr lang="en-US" dirty="0"/>
              <a:t> as </a:t>
            </a:r>
            <a:r>
              <a:rPr lang="en-US" dirty="0" err="1"/>
              <a:t>pg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pg.init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prozor</a:t>
            </a:r>
            <a:r>
              <a:rPr lang="en-US" dirty="0"/>
              <a:t> = </a:t>
            </a:r>
            <a:r>
              <a:rPr lang="en-US" dirty="0" err="1"/>
              <a:t>pg.display.set_mode</a:t>
            </a:r>
            <a:r>
              <a:rPr lang="en-US" dirty="0"/>
              <a:t>((300,300))</a:t>
            </a:r>
          </a:p>
          <a:p>
            <a:pPr marL="0" indent="0">
              <a:buNone/>
            </a:pPr>
            <a:r>
              <a:rPr lang="en-US" dirty="0" err="1"/>
              <a:t>pg.display.set_caption</a:t>
            </a:r>
            <a:r>
              <a:rPr lang="en-US" dirty="0"/>
              <a:t>("</a:t>
            </a:r>
            <a:r>
              <a:rPr lang="en-US" dirty="0" err="1"/>
              <a:t>Crtanje</a:t>
            </a:r>
            <a:r>
              <a:rPr lang="en-US" dirty="0"/>
              <a:t> </a:t>
            </a:r>
            <a:r>
              <a:rPr lang="en-US" dirty="0" err="1"/>
              <a:t>trougla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 err="1"/>
              <a:t>prozor.fill</a:t>
            </a:r>
            <a:r>
              <a:rPr lang="en-US" dirty="0"/>
              <a:t>(</a:t>
            </a:r>
            <a:r>
              <a:rPr lang="en-US" dirty="0" err="1"/>
              <a:t>pg.Color</a:t>
            </a:r>
            <a:r>
              <a:rPr lang="en-US" dirty="0"/>
              <a:t>("White"))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pg.draw.lines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prozor,pg.Color</a:t>
            </a:r>
            <a:r>
              <a:rPr lang="en-US" dirty="0">
                <a:solidFill>
                  <a:srgbClr val="FF0000"/>
                </a:solidFill>
              </a:rPr>
              <a:t>("Orange"),True,((50,250),(250,250),(150,50)),4)</a:t>
            </a:r>
          </a:p>
          <a:p>
            <a:pPr marL="0" indent="0">
              <a:buNone/>
            </a:pPr>
            <a:r>
              <a:rPr lang="en-US" dirty="0" err="1"/>
              <a:t>pg.display.update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pg.time.wait</a:t>
            </a:r>
            <a:r>
              <a:rPr lang="en-US" dirty="0"/>
              <a:t>(30000)</a:t>
            </a:r>
          </a:p>
          <a:p>
            <a:pPr marL="0" indent="0">
              <a:buNone/>
            </a:pPr>
            <a:r>
              <a:rPr lang="en-US" dirty="0" err="1"/>
              <a:t>pg.quit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0695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Crtanje pravougaonika/kvadrata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pygame</a:t>
            </a:r>
            <a:r>
              <a:rPr lang="en-US" dirty="0"/>
              <a:t> as </a:t>
            </a:r>
            <a:r>
              <a:rPr lang="en-US" dirty="0" err="1"/>
              <a:t>pg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pg.init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prozor</a:t>
            </a:r>
            <a:r>
              <a:rPr lang="en-US" dirty="0"/>
              <a:t> = </a:t>
            </a:r>
            <a:r>
              <a:rPr lang="en-US" dirty="0" err="1"/>
              <a:t>pg.display.set_mode</a:t>
            </a:r>
            <a:r>
              <a:rPr lang="en-US" dirty="0"/>
              <a:t>((300,300))</a:t>
            </a:r>
          </a:p>
          <a:p>
            <a:pPr marL="0" indent="0">
              <a:buNone/>
            </a:pPr>
            <a:r>
              <a:rPr lang="en-US" dirty="0" err="1"/>
              <a:t>pg.display.set_caption</a:t>
            </a:r>
            <a:r>
              <a:rPr lang="en-US" dirty="0"/>
              <a:t>("</a:t>
            </a:r>
            <a:r>
              <a:rPr lang="en-US" dirty="0" err="1"/>
              <a:t>Crtanje</a:t>
            </a:r>
            <a:r>
              <a:rPr lang="en-US" dirty="0"/>
              <a:t> </a:t>
            </a:r>
            <a:r>
              <a:rPr lang="en-US" dirty="0" err="1"/>
              <a:t>trougla</a:t>
            </a:r>
            <a:r>
              <a:rPr lang="en-US" dirty="0"/>
              <a:t>")</a:t>
            </a:r>
          </a:p>
          <a:p>
            <a:pPr marL="0" indent="0">
              <a:buNone/>
            </a:pPr>
            <a:r>
              <a:rPr lang="en-US" dirty="0" err="1"/>
              <a:t>prozor.fill</a:t>
            </a:r>
            <a:r>
              <a:rPr lang="en-US" dirty="0"/>
              <a:t>(</a:t>
            </a:r>
            <a:r>
              <a:rPr lang="en-US" dirty="0" err="1"/>
              <a:t>pg.Color</a:t>
            </a:r>
            <a:r>
              <a:rPr lang="en-US" dirty="0"/>
              <a:t>("White"))</a:t>
            </a:r>
            <a:endParaRPr lang="sr-Latn-RS" dirty="0"/>
          </a:p>
          <a:p>
            <a:pPr marL="0" indent="0">
              <a:buNone/>
            </a:pPr>
            <a:r>
              <a:rPr lang="sr-Latn-RS" dirty="0">
                <a:solidFill>
                  <a:srgbClr val="FF0000"/>
                </a:solidFill>
              </a:rPr>
              <a:t># pg.draw.rect(prozor,boja,(x,y,dužina, širina),debljina_linije)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err="1"/>
              <a:t>pg.draw</a:t>
            </a:r>
            <a:r>
              <a:rPr lang="en-US" dirty="0"/>
              <a:t>.</a:t>
            </a:r>
            <a:r>
              <a:rPr lang="sr-Latn-RS" dirty="0"/>
              <a:t>rect</a:t>
            </a:r>
            <a:r>
              <a:rPr lang="en-US" dirty="0"/>
              <a:t>(</a:t>
            </a:r>
            <a:r>
              <a:rPr lang="en-US" dirty="0" err="1"/>
              <a:t>prozor</a:t>
            </a:r>
            <a:r>
              <a:rPr lang="en-US" dirty="0"/>
              <a:t>,</a:t>
            </a:r>
            <a:r>
              <a:rPr lang="sr-Latn-RS" dirty="0"/>
              <a:t> </a:t>
            </a:r>
            <a:r>
              <a:rPr lang="en-US" dirty="0" err="1"/>
              <a:t>pg.Color</a:t>
            </a:r>
            <a:r>
              <a:rPr lang="en-US" dirty="0"/>
              <a:t>(„</a:t>
            </a:r>
            <a:r>
              <a:rPr lang="sr-Latn-RS" dirty="0"/>
              <a:t>Red</a:t>
            </a:r>
            <a:r>
              <a:rPr lang="en-US" dirty="0"/>
              <a:t>"),</a:t>
            </a:r>
            <a:r>
              <a:rPr lang="sr-Latn-RS" dirty="0"/>
              <a:t> </a:t>
            </a:r>
            <a:r>
              <a:rPr lang="en-US" dirty="0"/>
              <a:t>(</a:t>
            </a:r>
            <a:r>
              <a:rPr lang="sr-Latn-RS" dirty="0"/>
              <a:t>150, 200, 100, 20</a:t>
            </a:r>
            <a:r>
              <a:rPr lang="en-US" dirty="0"/>
              <a:t>),</a:t>
            </a:r>
            <a:r>
              <a:rPr lang="sr-Latn-RS" dirty="0"/>
              <a:t> </a:t>
            </a:r>
            <a:r>
              <a:rPr lang="en-US" dirty="0"/>
              <a:t>4)</a:t>
            </a:r>
          </a:p>
          <a:p>
            <a:pPr marL="0" indent="0">
              <a:buNone/>
            </a:pPr>
            <a:r>
              <a:rPr lang="en-US" dirty="0" err="1"/>
              <a:t>pg.display.update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while </a:t>
            </a:r>
            <a:r>
              <a:rPr lang="en-US" dirty="0" err="1"/>
              <a:t>pg.event.wait</a:t>
            </a:r>
            <a:r>
              <a:rPr lang="en-US" dirty="0"/>
              <a:t>().type != </a:t>
            </a:r>
            <a:r>
              <a:rPr lang="en-US" dirty="0" err="1"/>
              <a:t>pg.QUIT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sr-Latn-RS" dirty="0"/>
              <a:t>	</a:t>
            </a:r>
            <a:r>
              <a:rPr lang="en-US" dirty="0"/>
              <a:t>pass</a:t>
            </a:r>
          </a:p>
          <a:p>
            <a:pPr marL="0" indent="0">
              <a:buNone/>
            </a:pPr>
            <a:r>
              <a:rPr lang="en-US" dirty="0" err="1"/>
              <a:t>pg.quit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73114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1140</Words>
  <Application>Microsoft Office PowerPoint</Application>
  <PresentationFormat>On-screen Show (4:3)</PresentationFormat>
  <Paragraphs>152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Korišćenje biblioteke pygame</vt:lpstr>
      <vt:lpstr>Položaj objekta</vt:lpstr>
      <vt:lpstr>PowerPoint Presentation</vt:lpstr>
      <vt:lpstr>PowerPoint Presentation</vt:lpstr>
      <vt:lpstr>Crtanje trougla liniju po liniju</vt:lpstr>
      <vt:lpstr>Цртање дужи</vt:lpstr>
      <vt:lpstr>Прозор за цртање</vt:lpstr>
      <vt:lpstr>Параметар боја</vt:lpstr>
      <vt:lpstr>Дефинисање боје помоћу торке</vt:lpstr>
      <vt:lpstr>Положај почетне и крајње тачке дужи</vt:lpstr>
      <vt:lpstr>PowerPoint Presentation</vt:lpstr>
      <vt:lpstr>Дебљина линије</vt:lpstr>
      <vt:lpstr>Код куће пробати:  Crtanje trougla sa komandom pygame.draw.lines</vt:lpstr>
      <vt:lpstr>Crtanje pravougaonika/kvadrata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pygame</dc:title>
  <dc:creator>Miltonx</dc:creator>
  <cp:lastModifiedBy>Tamara Smiljanic</cp:lastModifiedBy>
  <cp:revision>9</cp:revision>
  <dcterms:created xsi:type="dcterms:W3CDTF">2025-04-27T21:49:48Z</dcterms:created>
  <dcterms:modified xsi:type="dcterms:W3CDTF">2026-03-15T11:07:56Z</dcterms:modified>
</cp:coreProperties>
</file>